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k singh" userId="31d8ef34d83f9d9c" providerId="LiveId" clId="{4213A401-9933-4E3A-BBDC-7D32138072D3}"/>
    <pc:docChg chg="custSel addSld delSld modSld">
      <pc:chgData name="alok singh" userId="31d8ef34d83f9d9c" providerId="LiveId" clId="{4213A401-9933-4E3A-BBDC-7D32138072D3}" dt="2026-09-09T07:27:21.846" v="90" actId="1036"/>
      <pc:docMkLst>
        <pc:docMk/>
      </pc:docMkLst>
      <pc:sldChg chg="modSp mod">
        <pc:chgData name="alok singh" userId="31d8ef34d83f9d9c" providerId="LiveId" clId="{4213A401-9933-4E3A-BBDC-7D32138072D3}" dt="2026-09-09T06:20:21.423" v="36" actId="20577"/>
        <pc:sldMkLst>
          <pc:docMk/>
          <pc:sldMk cId="0" sldId="258"/>
        </pc:sldMkLst>
        <pc:spChg chg="mod">
          <ac:chgData name="alok singh" userId="31d8ef34d83f9d9c" providerId="LiveId" clId="{4213A401-9933-4E3A-BBDC-7D32138072D3}" dt="2026-09-09T06:20:21.423" v="36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alok singh" userId="31d8ef34d83f9d9c" providerId="LiveId" clId="{4213A401-9933-4E3A-BBDC-7D32138072D3}" dt="2026-09-09T05:53:30.999" v="6" actId="1038"/>
        <pc:sldMkLst>
          <pc:docMk/>
          <pc:sldMk cId="0" sldId="259"/>
        </pc:sldMkLst>
        <pc:spChg chg="mod">
          <ac:chgData name="alok singh" userId="31d8ef34d83f9d9c" providerId="LiveId" clId="{4213A401-9933-4E3A-BBDC-7D32138072D3}" dt="2026-09-09T05:53:30.999" v="6" actId="1038"/>
          <ac:spMkLst>
            <pc:docMk/>
            <pc:sldMk cId="0" sldId="259"/>
            <ac:spMk id="2" creationId="{00000000-0000-0000-0000-000000000000}"/>
          </ac:spMkLst>
        </pc:spChg>
        <pc:picChg chg="mod">
          <ac:chgData name="alok singh" userId="31d8ef34d83f9d9c" providerId="LiveId" clId="{4213A401-9933-4E3A-BBDC-7D32138072D3}" dt="2026-09-09T05:41:52.272" v="4" actId="14100"/>
          <ac:picMkLst>
            <pc:docMk/>
            <pc:sldMk cId="0" sldId="259"/>
            <ac:picMk id="20" creationId="{89166AD6-88B8-EF19-BA1E-9B05A3FCC630}"/>
          </ac:picMkLst>
        </pc:picChg>
      </pc:sldChg>
      <pc:sldChg chg="modSp mod">
        <pc:chgData name="alok singh" userId="31d8ef34d83f9d9c" providerId="LiveId" clId="{4213A401-9933-4E3A-BBDC-7D32138072D3}" dt="2026-09-09T05:54:02.495" v="9" actId="14100"/>
        <pc:sldMkLst>
          <pc:docMk/>
          <pc:sldMk cId="0" sldId="260"/>
        </pc:sldMkLst>
        <pc:spChg chg="mod">
          <ac:chgData name="alok singh" userId="31d8ef34d83f9d9c" providerId="LiveId" clId="{4213A401-9933-4E3A-BBDC-7D32138072D3}" dt="2026-09-09T05:53:54.215" v="7" actId="14100"/>
          <ac:spMkLst>
            <pc:docMk/>
            <pc:sldMk cId="0" sldId="260"/>
            <ac:spMk id="8" creationId="{00000000-0000-0000-0000-000000000000}"/>
          </ac:spMkLst>
        </pc:spChg>
        <pc:picChg chg="mod">
          <ac:chgData name="alok singh" userId="31d8ef34d83f9d9c" providerId="LiveId" clId="{4213A401-9933-4E3A-BBDC-7D32138072D3}" dt="2026-09-09T05:54:02.495" v="9" actId="14100"/>
          <ac:picMkLst>
            <pc:docMk/>
            <pc:sldMk cId="0" sldId="260"/>
            <ac:picMk id="7" creationId="{00000000-0000-0000-0000-000000000000}"/>
          </ac:picMkLst>
        </pc:picChg>
      </pc:sldChg>
      <pc:sldChg chg="modSp mod">
        <pc:chgData name="alok singh" userId="31d8ef34d83f9d9c" providerId="LiveId" clId="{4213A401-9933-4E3A-BBDC-7D32138072D3}" dt="2026-09-09T05:55:44.197" v="12" actId="14100"/>
        <pc:sldMkLst>
          <pc:docMk/>
          <pc:sldMk cId="0" sldId="261"/>
        </pc:sldMkLst>
        <pc:spChg chg="mod">
          <ac:chgData name="alok singh" userId="31d8ef34d83f9d9c" providerId="LiveId" clId="{4213A401-9933-4E3A-BBDC-7D32138072D3}" dt="2026-09-09T05:55:35.506" v="10" actId="14100"/>
          <ac:spMkLst>
            <pc:docMk/>
            <pc:sldMk cId="0" sldId="261"/>
            <ac:spMk id="12" creationId="{00000000-0000-0000-0000-000000000000}"/>
          </ac:spMkLst>
        </pc:spChg>
        <pc:picChg chg="mod">
          <ac:chgData name="alok singh" userId="31d8ef34d83f9d9c" providerId="LiveId" clId="{4213A401-9933-4E3A-BBDC-7D32138072D3}" dt="2026-09-09T05:55:44.197" v="12" actId="14100"/>
          <ac:picMkLst>
            <pc:docMk/>
            <pc:sldMk cId="0" sldId="261"/>
            <ac:picMk id="16" creationId="{1955C5BC-7F66-FEB3-6B91-6A48427F619E}"/>
          </ac:picMkLst>
        </pc:picChg>
      </pc:sldChg>
      <pc:sldChg chg="modSp mod">
        <pc:chgData name="alok singh" userId="31d8ef34d83f9d9c" providerId="LiveId" clId="{4213A401-9933-4E3A-BBDC-7D32138072D3}" dt="2026-09-09T05:56:28.299" v="17" actId="14100"/>
        <pc:sldMkLst>
          <pc:docMk/>
          <pc:sldMk cId="0" sldId="262"/>
        </pc:sldMkLst>
        <pc:spChg chg="mod">
          <ac:chgData name="alok singh" userId="31d8ef34d83f9d9c" providerId="LiveId" clId="{4213A401-9933-4E3A-BBDC-7D32138072D3}" dt="2026-09-09T05:56:15.329" v="14" actId="14100"/>
          <ac:spMkLst>
            <pc:docMk/>
            <pc:sldMk cId="0" sldId="262"/>
            <ac:spMk id="8" creationId="{00000000-0000-0000-0000-000000000000}"/>
          </ac:spMkLst>
        </pc:spChg>
        <pc:picChg chg="mod">
          <ac:chgData name="alok singh" userId="31d8ef34d83f9d9c" providerId="LiveId" clId="{4213A401-9933-4E3A-BBDC-7D32138072D3}" dt="2026-09-09T05:56:28.299" v="17" actId="14100"/>
          <ac:picMkLst>
            <pc:docMk/>
            <pc:sldMk cId="0" sldId="262"/>
            <ac:picMk id="7" creationId="{00000000-0000-0000-0000-000000000000}"/>
          </ac:picMkLst>
        </pc:picChg>
      </pc:sldChg>
      <pc:sldChg chg="delSp modSp del mod">
        <pc:chgData name="alok singh" userId="31d8ef34d83f9d9c" providerId="LiveId" clId="{4213A401-9933-4E3A-BBDC-7D32138072D3}" dt="2026-09-09T06:36:05.002" v="79" actId="47"/>
        <pc:sldMkLst>
          <pc:docMk/>
          <pc:sldMk cId="0" sldId="264"/>
        </pc:sldMkLst>
        <pc:spChg chg="del mod">
          <ac:chgData name="alok singh" userId="31d8ef34d83f9d9c" providerId="LiveId" clId="{4213A401-9933-4E3A-BBDC-7D32138072D3}" dt="2026-09-09T06:35:41.904" v="75"/>
          <ac:spMkLst>
            <pc:docMk/>
            <pc:sldMk cId="0" sldId="264"/>
            <ac:spMk id="9" creationId="{00000000-0000-0000-0000-000000000000}"/>
          </ac:spMkLst>
        </pc:spChg>
      </pc:sldChg>
      <pc:sldChg chg="modSp mod">
        <pc:chgData name="alok singh" userId="31d8ef34d83f9d9c" providerId="LiveId" clId="{4213A401-9933-4E3A-BBDC-7D32138072D3}" dt="2026-09-09T06:26:59.064" v="46" actId="20577"/>
        <pc:sldMkLst>
          <pc:docMk/>
          <pc:sldMk cId="0" sldId="265"/>
        </pc:sldMkLst>
        <pc:spChg chg="mod">
          <ac:chgData name="alok singh" userId="31d8ef34d83f9d9c" providerId="LiveId" clId="{4213A401-9933-4E3A-BBDC-7D32138072D3}" dt="2026-09-09T06:26:59.064" v="46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alok singh" userId="31d8ef34d83f9d9c" providerId="LiveId" clId="{4213A401-9933-4E3A-BBDC-7D32138072D3}" dt="2026-09-09T05:59:47.976" v="20" actId="12"/>
        <pc:sldMkLst>
          <pc:docMk/>
          <pc:sldMk cId="1344825057" sldId="266"/>
        </pc:sldMkLst>
        <pc:spChg chg="mod">
          <ac:chgData name="alok singh" userId="31d8ef34d83f9d9c" providerId="LiveId" clId="{4213A401-9933-4E3A-BBDC-7D32138072D3}" dt="2026-09-09T05:59:47.976" v="20" actId="12"/>
          <ac:spMkLst>
            <pc:docMk/>
            <pc:sldMk cId="1344825057" sldId="266"/>
            <ac:spMk id="3" creationId="{EFACCA3C-4B8B-34A2-8012-4915AEC271F4}"/>
          </ac:spMkLst>
        </pc:spChg>
      </pc:sldChg>
      <pc:sldChg chg="delSp modSp add mod setBg">
        <pc:chgData name="alok singh" userId="31d8ef34d83f9d9c" providerId="LiveId" clId="{4213A401-9933-4E3A-BBDC-7D32138072D3}" dt="2026-09-09T07:27:21.846" v="90" actId="1036"/>
        <pc:sldMkLst>
          <pc:docMk/>
          <pc:sldMk cId="0" sldId="272"/>
        </pc:sldMkLst>
        <pc:spChg chg="del mod">
          <ac:chgData name="alok singh" userId="31d8ef34d83f9d9c" providerId="LiveId" clId="{4213A401-9933-4E3A-BBDC-7D32138072D3}" dt="2026-09-09T06:33:33.047" v="58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ok singh" userId="31d8ef34d83f9d9c" providerId="LiveId" clId="{4213A401-9933-4E3A-BBDC-7D32138072D3}" dt="2026-09-09T07:27:21.846" v="90" actId="10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6" creationId="{00000000-0000-0000-0000-000000000000}"/>
          </ac:spMkLst>
        </pc:spChg>
        <pc:spChg chg="mod">
          <ac:chgData name="alok singh" userId="31d8ef34d83f9d9c" providerId="LiveId" clId="{4213A401-9933-4E3A-BBDC-7D32138072D3}" dt="2026-09-09T06:40:14.563" v="87" actId="255"/>
          <ac:spMkLst>
            <pc:docMk/>
            <pc:sldMk cId="0" sldId="272"/>
            <ac:spMk id="7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12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15" creationId="{00000000-0000-0000-0000-000000000000}"/>
          </ac:spMkLst>
        </pc:spChg>
        <pc:spChg chg="mod">
          <ac:chgData name="alok singh" userId="31d8ef34d83f9d9c" providerId="LiveId" clId="{4213A401-9933-4E3A-BBDC-7D32138072D3}" dt="2026-09-09T06:40:20.629" v="88" actId="255"/>
          <ac:spMkLst>
            <pc:docMk/>
            <pc:sldMk cId="0" sldId="272"/>
            <ac:spMk id="19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21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23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25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9:44.384" v="85" actId="255"/>
          <ac:spMkLst>
            <pc:docMk/>
            <pc:sldMk cId="0" sldId="272"/>
            <ac:spMk id="26" creationId="{00000000-0000-0000-0000-000000000000}"/>
          </ac:spMkLst>
        </pc:spChg>
        <pc:spChg chg="mod">
          <ac:chgData name="alok singh" userId="31d8ef34d83f9d9c" providerId="LiveId" clId="{4213A401-9933-4E3A-BBDC-7D32138072D3}" dt="2026-09-09T06:40:29.747" v="89" actId="255"/>
          <ac:spMkLst>
            <pc:docMk/>
            <pc:sldMk cId="0" sldId="272"/>
            <ac:spMk id="28" creationId="{00000000-0000-0000-0000-000000000000}"/>
          </ac:spMkLst>
        </pc:spChg>
        <pc:spChg chg="mod">
          <ac:chgData name="alok singh" userId="31d8ef34d83f9d9c" providerId="LiveId" clId="{4213A401-9933-4E3A-BBDC-7D32138072D3}" dt="2026-09-09T06:35:47.090" v="76" actId="20577"/>
          <ac:spMkLst>
            <pc:docMk/>
            <pc:sldMk cId="0" sldId="272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0C83B-F3A6-4954-927F-BC2A895BFC5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BFB19-51F5-40D8-9FDC-D8B01ECD6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6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BANK ANALYTICS PROJECT</a:t>
            </a:r>
          </a:p>
          <a:p>
            <a:pPr>
              <a:defRPr sz="2300">
                <a:solidFill>
                  <a:srgbClr val="D2E1F5"/>
                </a:solidFill>
              </a:defRPr>
            </a:pPr>
            <a:r>
              <a:t>Loan Analytics + Credit &amp; Debit Transaction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7E26"/>
                </a:solidFill>
              </a:defRPr>
            </a:pPr>
            <a:r>
              <a:t>Excel • SQL • Power BI • Tableau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 practical dashboard-based approach to understanding banking performance, risk and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1/10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B53897-040F-AC30-9340-01D2B1218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708" y="4160520"/>
            <a:ext cx="3498091" cy="9148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4B1C99-7BA5-97F1-78C1-83DC49FA9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279" y="4160520"/>
            <a:ext cx="1113844" cy="13093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1F5D77-756B-1CA7-ED9F-A8ADAD07E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1" y="4165092"/>
            <a:ext cx="1425113" cy="1188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A1F726-B1F8-922C-CC0D-606394F32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342" y="4160520"/>
            <a:ext cx="1539732" cy="1309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Project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5836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</a:defRPr>
            </a:pPr>
            <a:r>
              <a:t>Convert raw banking data into meaningful business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</a:defRPr>
            </a:pPr>
            <a:r>
              <a:t>Measure loan portfolio size, collections, interest and delinquency.</a:t>
            </a:r>
          </a:p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</a:defRPr>
            </a:pPr>
            <a:r>
              <a:t>Analyse credit and debit transactions, activity and risk flags.</a:t>
            </a:r>
          </a:p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</a:defRPr>
            </a:pPr>
            <a:r>
              <a:t>Compare the same business questions across Excel, Power BI and Tableau.</a:t>
            </a:r>
          </a:p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</a:defRPr>
            </a:pPr>
            <a:r>
              <a:t>Use SQL to clean, aggregate and validate the underlying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2834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Loan Analytics</a:t>
            </a:r>
          </a:p>
          <a:p>
            <a:pPr algn="ctr">
              <a:defRPr sz="2200" b="1">
                <a:solidFill>
                  <a:srgbClr val="1F64B4"/>
                </a:solidFill>
              </a:defRPr>
            </a:pPr>
            <a:r>
              <a:t>Portfolio &amp; Credit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880360"/>
            <a:ext cx="2834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Transaction Analytics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t>Credit &amp; Debit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931920"/>
            <a:ext cx="2834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Tools</a:t>
            </a:r>
          </a:p>
          <a:p>
            <a:pPr algn="ctr">
              <a:defRPr sz="2200" b="1">
                <a:solidFill>
                  <a:srgbClr val="208758"/>
                </a:solidFill>
              </a:defRPr>
            </a:pPr>
            <a:r>
              <a:t>4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9779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lang="en-US" dirty="0"/>
              <a:t>Tools &amp; Workflow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19" y="2157985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59"/>
                </a:solidFill>
              </a:defRPr>
            </a:pPr>
            <a:r>
              <a:rPr dirty="0"/>
              <a:t>Raw data</a:t>
            </a:r>
          </a:p>
          <a:p>
            <a:pPr>
              <a:defRPr sz="1300">
                <a:solidFill>
                  <a:srgbClr val="232B37"/>
                </a:solidFill>
              </a:defRPr>
            </a:pPr>
            <a:r>
              <a:rPr dirty="0"/>
              <a:t>Loans, customers, branches, transactions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1664208"/>
            <a:ext cx="685800" cy="274320"/>
          </a:xfrm>
          <a:prstGeom prst="rightArrow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20439" y="1508760"/>
            <a:ext cx="594360" cy="594360"/>
          </a:xfrm>
          <a:prstGeom prst="ellipse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5151" y="1956816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59"/>
                </a:solidFill>
              </a:defRPr>
            </a:pPr>
            <a:r>
              <a:rPr dirty="0"/>
              <a:t>SQL</a:t>
            </a:r>
          </a:p>
          <a:p>
            <a:pPr>
              <a:defRPr sz="1300">
                <a:solidFill>
                  <a:srgbClr val="232B37"/>
                </a:solidFill>
              </a:defRPr>
            </a:pPr>
            <a:r>
              <a:rPr dirty="0"/>
              <a:t>Filtering, grouping, calculations and validation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03520" y="1664208"/>
            <a:ext cx="685800" cy="274320"/>
          </a:xfrm>
          <a:prstGeom prst="rightArrow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09359" y="1508760"/>
            <a:ext cx="594360" cy="594360"/>
          </a:xfrm>
          <a:prstGeom prst="ellipse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9252" y="2095414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59"/>
                </a:solidFill>
              </a:defRPr>
            </a:pPr>
            <a:r>
              <a:rPr dirty="0"/>
              <a:t>Excel</a:t>
            </a:r>
          </a:p>
          <a:p>
            <a:pPr>
              <a:defRPr sz="1300">
                <a:solidFill>
                  <a:srgbClr val="232B37"/>
                </a:solidFill>
              </a:defRPr>
            </a:pPr>
            <a:r>
              <a:rPr dirty="0"/>
              <a:t>Cleaning, pivot analysis and initial dashboard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1664208"/>
            <a:ext cx="685800" cy="274320"/>
          </a:xfrm>
          <a:prstGeom prst="rightArrow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98280" y="1508760"/>
            <a:ext cx="594360" cy="594360"/>
          </a:xfrm>
          <a:prstGeom prst="ellipse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2769" y="2104319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59"/>
                </a:solidFill>
              </a:defRPr>
            </a:pPr>
            <a:r>
              <a:rPr dirty="0"/>
              <a:t>Power BI / Tableau</a:t>
            </a:r>
          </a:p>
          <a:p>
            <a:pPr>
              <a:defRPr sz="1300">
                <a:solidFill>
                  <a:srgbClr val="232B37"/>
                </a:solidFill>
              </a:defRPr>
            </a:pPr>
            <a:r>
              <a:rPr dirty="0"/>
              <a:t>Interactive visuals, slicers and KPI storytelling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3/10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9042DB-874B-466E-B136-45745254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22258" y="3054096"/>
            <a:ext cx="3172260" cy="37584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F78B54-4279-5B3E-6E08-ED1E48D5F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" y="3087245"/>
            <a:ext cx="4091941" cy="364273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FDA974-4EE2-BC88-FDD0-2623F8A42FE6}"/>
              </a:ext>
            </a:extLst>
          </p:cNvPr>
          <p:cNvCxnSpPr/>
          <p:nvPr/>
        </p:nvCxnSpPr>
        <p:spPr>
          <a:xfrm flipH="1">
            <a:off x="3200400" y="2132624"/>
            <a:ext cx="457199" cy="822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83F1CD-D505-4A9F-D1B9-411EB7D69933}"/>
              </a:ext>
            </a:extLst>
          </p:cNvPr>
          <p:cNvCxnSpPr>
            <a:cxnSpLocks/>
          </p:cNvCxnSpPr>
          <p:nvPr/>
        </p:nvCxnSpPr>
        <p:spPr>
          <a:xfrm>
            <a:off x="4095532" y="2074593"/>
            <a:ext cx="2580610" cy="939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8C641E62-9512-716F-6D0F-447FF9447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590" y="3195706"/>
            <a:ext cx="4681969" cy="283730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DD4729-F3B7-2966-0AE7-09A4DA32807F}"/>
              </a:ext>
            </a:extLst>
          </p:cNvPr>
          <p:cNvCxnSpPr>
            <a:cxnSpLocks/>
          </p:cNvCxnSpPr>
          <p:nvPr/>
        </p:nvCxnSpPr>
        <p:spPr>
          <a:xfrm>
            <a:off x="6870710" y="2106201"/>
            <a:ext cx="3693301" cy="99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79" y="236305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Loan Analytics: Key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The loan dashboard focuses on portfolio performance and credit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Total Funded</a:t>
            </a:r>
          </a:p>
          <a:p>
            <a:pPr algn="ctr">
              <a:defRPr sz="2200" b="1">
                <a:solidFill>
                  <a:srgbClr val="1F64B4"/>
                </a:solidFill>
              </a:defRPr>
            </a:pPr>
            <a:r>
              <a:t>₹73.27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Total Loans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t>65,535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rPr lang="en-US" dirty="0"/>
              <a:t>Total </a:t>
            </a:r>
            <a:r>
              <a:rPr dirty="0"/>
              <a:t>Collections</a:t>
            </a:r>
          </a:p>
          <a:p>
            <a:pPr algn="ctr">
              <a:defRPr sz="2200" b="1">
                <a:solidFill>
                  <a:srgbClr val="208758"/>
                </a:solidFill>
              </a:defRPr>
            </a:pPr>
            <a:r>
              <a:rPr dirty="0"/>
              <a:t>₹80.84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Interest</a:t>
            </a:r>
          </a:p>
          <a:p>
            <a:pPr algn="ctr">
              <a:defRPr sz="2200" b="1">
                <a:solidFill>
                  <a:srgbClr val="1F64B4"/>
                </a:solidFill>
              </a:defRPr>
            </a:pPr>
            <a:r>
              <a:t>₹15.53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rPr dirty="0"/>
              <a:t>Delinquency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10.84%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754880" cy="26930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b="1" dirty="0">
                <a:latin typeface="Sitka Text" pitchFamily="2" charset="0"/>
              </a:rPr>
              <a:t>Total funded </a:t>
            </a:r>
            <a:r>
              <a:rPr dirty="0">
                <a:latin typeface="Sitka Text" pitchFamily="2" charset="0"/>
              </a:rPr>
              <a:t>amount shows the scale of lending.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Collection and interest KPIs indicate cash recovery and income generation.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solidFill>
                  <a:srgbClr val="FF0000"/>
                </a:solidFill>
                <a:latin typeface="Sitka Text" pitchFamily="2" charset="0"/>
              </a:rPr>
              <a:t>Delinquency</a:t>
            </a:r>
            <a:r>
              <a:rPr dirty="0">
                <a:latin typeface="Sitka Text" pitchFamily="2" charset="0"/>
              </a:rPr>
              <a:t> and </a:t>
            </a:r>
            <a:r>
              <a:rPr dirty="0">
                <a:solidFill>
                  <a:srgbClr val="FF0000"/>
                </a:solidFill>
                <a:latin typeface="Sitka Text" pitchFamily="2" charset="0"/>
              </a:rPr>
              <a:t>default</a:t>
            </a:r>
            <a:r>
              <a:rPr dirty="0">
                <a:latin typeface="Sitka Text" pitchFamily="2" charset="0"/>
              </a:rPr>
              <a:t> rates highlight portfolio quality.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Average loan size helps understand the typical exposure per loan.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4/10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166AD6-88B8-EF19-BA1E-9B05A3FCC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32120" y="2420591"/>
            <a:ext cx="6437273" cy="412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Loan Dashboard: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003858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320"/>
            <a:ext cx="6976153" cy="4206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58346" y="1417320"/>
            <a:ext cx="4371654" cy="420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State-wise and branch-wise charts identify major lending locations.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Category-wise analysis shows which products contribute most to the portfolio.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Age-group and grade analysis supports customer and credit segmentation.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The yearly trend highlights changes in disbursement and default </a:t>
            </a:r>
            <a:r>
              <a:rPr dirty="0" err="1">
                <a:latin typeface="Sitka Text" pitchFamily="2" charset="0"/>
              </a:rPr>
              <a:t>behaviour</a:t>
            </a:r>
            <a:r>
              <a:rPr dirty="0">
                <a:latin typeface="Sitka Text" pitchFamily="2" charset="0"/>
              </a:rPr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A risk matrix can be used to compare branch exposure and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Credit &amp; Debit Analytics: Key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The second dashboard evaluates transaction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Total Credit</a:t>
            </a:r>
          </a:p>
          <a:p>
            <a:pPr algn="ctr">
              <a:defRPr sz="2200" b="1">
                <a:solidFill>
                  <a:srgbClr val="1F64B4"/>
                </a:solidFill>
              </a:defRPr>
            </a:pPr>
            <a:r>
              <a:t>₹127.60M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Total Debit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t>₹127.29M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Net Transaction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t>-₹318.12K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rPr dirty="0"/>
              <a:t>Credit/Debit Ratio</a:t>
            </a:r>
          </a:p>
          <a:p>
            <a:pPr algn="ctr">
              <a:defRPr sz="2200" b="1">
                <a:solidFill>
                  <a:srgbClr val="208758"/>
                </a:solidFill>
              </a:defRPr>
            </a:pPr>
            <a:r>
              <a:rPr dirty="0"/>
              <a:t>1</a:t>
            </a:r>
            <a:r>
              <a:rPr lang="en-US" dirty="0"/>
              <a:t>00.25%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829800" y="1234440"/>
            <a:ext cx="2057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978"/>
                </a:solidFill>
              </a:defRPr>
            </a:pPr>
            <a:r>
              <a:t>High-Risk Share</a:t>
            </a:r>
          </a:p>
          <a:p>
            <a:pPr algn="ctr">
              <a:defRPr sz="2200" b="1">
                <a:solidFill>
                  <a:srgbClr val="EE7E26"/>
                </a:solidFill>
              </a:defRPr>
            </a:pPr>
            <a:r>
              <a:t>40.81%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493403" cy="26930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  <a:defRPr sz="1800">
                <a:solidFill>
                  <a:srgbClr val="232B37"/>
                </a:solidFill>
              </a:defRPr>
            </a:pPr>
            <a:r>
              <a:rPr b="1" dirty="0"/>
              <a:t>Credit and debit </a:t>
            </a:r>
            <a:r>
              <a:rPr dirty="0"/>
              <a:t>totals show the overall money movement.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  <a:defRPr sz="1800">
                <a:solidFill>
                  <a:srgbClr val="232B37"/>
                </a:solidFill>
              </a:defRPr>
            </a:pPr>
            <a:r>
              <a:rPr b="1" dirty="0"/>
              <a:t>Net transaction amount </a:t>
            </a:r>
            <a:r>
              <a:rPr dirty="0"/>
              <a:t>indicates whether credits or debits are higher.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  <a:defRPr sz="1800">
                <a:solidFill>
                  <a:srgbClr val="232B37"/>
                </a:solidFill>
              </a:defRPr>
            </a:pPr>
            <a:r>
              <a:rPr dirty="0"/>
              <a:t>The credit-debit ratio compares inflows with outflows.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  <a:defRPr sz="1800">
                <a:solidFill>
                  <a:srgbClr val="232B37"/>
                </a:solidFill>
              </a:defRPr>
            </a:pPr>
            <a:r>
              <a:rPr dirty="0"/>
              <a:t>High-risk flags help identify transactions requiring further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6/10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55C5BC-7F66-FEB3-6B91-6A48427F6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70644" y="2564895"/>
            <a:ext cx="6657442" cy="38541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Credit &amp; Debit Dashboard: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EE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489309"/>
            <a:ext cx="6924782" cy="4517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58345" y="1489309"/>
            <a:ext cx="4752501" cy="420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Monthly transaction frequency shows stability or unusual changes in activity.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Bank-wise and branch-wise charts reveal concentration of transaction volume.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Transaction-method distribution compares bank transfer, credit card and debit card usage.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High-risk versus normal transactions provide a first-level monitoring view.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B37"/>
                </a:solidFill>
              </a:defRPr>
            </a:pPr>
            <a:r>
              <a:rPr dirty="0">
                <a:latin typeface="Sitka Text" pitchFamily="2" charset="0"/>
              </a:rPr>
              <a:t>Growth-rate visuals help identify months with sharp increases or declines.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7. Tools Used &amp; Their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Each tool served a different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554480" cy="594360"/>
          </a:xfrm>
          <a:prstGeom prst="rect">
            <a:avLst/>
          </a:prstGeom>
          <a:solidFill>
            <a:srgbClr val="0D2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34440"/>
            <a:ext cx="4572000" cy="594360"/>
          </a:xfrm>
          <a:prstGeom prst="rect">
            <a:avLst/>
          </a:prstGeom>
          <a:solidFill>
            <a:srgbClr val="0D2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 use in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234440"/>
            <a:ext cx="4297680" cy="594360"/>
          </a:xfrm>
          <a:prstGeom prst="rect">
            <a:avLst/>
          </a:prstGeom>
          <a:solidFill>
            <a:srgbClr val="0D2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1554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82880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Data extraction, filtering, grouping and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828800"/>
            <a:ext cx="4297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Reliable analytical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06040"/>
            <a:ext cx="155448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rPr dirty="0"/>
              <a:t>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606040"/>
            <a:ext cx="457200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Cleaning, pivots, formulas and quick exploration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606040"/>
            <a:ext cx="429768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Initial analysis and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83280"/>
            <a:ext cx="1554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Power 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38328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Interactive KPIs, slicers and cross-filtering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383280"/>
            <a:ext cx="4297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Management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160520"/>
            <a:ext cx="155448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Tableau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4160520"/>
            <a:ext cx="457200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Alternative visual storytelling and comparisons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4160520"/>
            <a:ext cx="4297680" cy="777240"/>
          </a:xfrm>
          <a:prstGeom prst="rect">
            <a:avLst/>
          </a:prstGeom>
          <a:solidFill>
            <a:srgbClr val="E8EF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Interactive visual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0" y="29539"/>
            <a:ext cx="12168487" cy="828405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8. What I Learned &amp; Challenges Faced</a:t>
            </a:r>
            <a:endParaRPr lang="en-US" sz="2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55768" cy="4892040"/>
          </a:xfrm>
          <a:prstGeom prst="roundRect">
            <a:avLst>
              <a:gd name="adj" fmla="val 1869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457200" cy="457200"/>
          </a:xfrm>
          <a:prstGeom prst="ellipse">
            <a:avLst/>
          </a:prstGeom>
          <a:solidFill>
            <a:srgbClr val="1E7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1907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7744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KPI has to be rebuilt three different ways — Excel formulas, Power BI DAX, Tableau calculated fields — and the numbers can drift between them.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64992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a dashboard that answers a question in one glance: KPI tiles on top, drill-down charts below, slicers to the side.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352544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SQL-level cleaning — standardising branch names, flagging blanks and unverified records — has to happen before a single chart is built.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340096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a raw metric into a decision-ready KPI, not just a number on a card.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1463040"/>
            <a:ext cx="5455768" cy="4892040"/>
          </a:xfrm>
          <a:prstGeom prst="roundRect">
            <a:avLst>
              <a:gd name="adj" fmla="val 1869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4760" y="1719072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476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47408" y="171907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27368" y="237744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totals that shifted between dashboard iterations, traced back to different data refreshes.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27368" y="3364992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incomplete year-end data — every transaction chart needed the December drop called out, not smoothed over.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53048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4352544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one consistent visual language (colours, KPI cards, slicer placement) while switching between Excel, Power BI and Tableau.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53048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27368" y="5340096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for '(Blank)' and unverified records (16,921 unverified loans) without silently dropping them from the KPIs.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21402" y="6473952"/>
            <a:ext cx="2404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rPr lang="en-IN" sz="1100" dirty="0"/>
              <a:t>Bank Analytics Project  |  9/10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875520" cy="4611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r>
              <a:rPr dirty="0"/>
              <a:t>The project combines loan portfolio analysis with credit and debit transaction analysis.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r>
              <a:rPr dirty="0"/>
              <a:t>Excel supported exploration, while Power BI and Tableau improved interactivity and presentation.</a:t>
            </a:r>
            <a:r>
              <a:rPr lang="en-US" dirty="0"/>
              <a:t> </a:t>
            </a:r>
            <a:r>
              <a:rPr dirty="0"/>
              <a:t>SQL provided the foundation for structured and repeatable analysis.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r>
              <a:rPr dirty="0"/>
              <a:t>The dashboards can support monitoring of lending performance, transaction </a:t>
            </a:r>
            <a:r>
              <a:rPr dirty="0" err="1"/>
              <a:t>behaviour</a:t>
            </a:r>
            <a:r>
              <a:rPr dirty="0"/>
              <a:t> and potential risk.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Loan Analytics and Credit &amp; Debit Analysis into one project shows how the same banking data can answer two different questions: who is likely to stop paying, and how is money actually moving day to day.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KPI framework — funding, collection, delinquency, NPA, transaction risk — that a bank team could act on directly: which branches to support, which accounts to review, and where risk is concentrating.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ü"/>
              <a:defRPr sz="21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10/10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F087D-2DAE-9457-A2D2-3CD64396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48FCE8-EAFB-F563-11B7-E9C0400B7D7B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latin typeface="Algerian" panose="04020705040A02060702" pitchFamily="82" charset="0"/>
            </a:endParaRPr>
          </a:p>
          <a:p>
            <a:endParaRPr lang="en-US" sz="2800" dirty="0">
              <a:latin typeface="Algerian" panose="04020705040A02060702" pitchFamily="82" charset="0"/>
            </a:endParaRPr>
          </a:p>
          <a:p>
            <a:endParaRPr sz="2800" dirty="0"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65334-F984-1D14-08B4-634E2C51B393}"/>
              </a:ext>
            </a:extLst>
          </p:cNvPr>
          <p:cNvSpPr txBox="1"/>
          <p:nvPr/>
        </p:nvSpPr>
        <p:spPr>
          <a:xfrm>
            <a:off x="411480" y="6547104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Bank Analytics Project  |  10/10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0639D-E699-0B1B-727B-366EE10D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13" y="128016"/>
            <a:ext cx="7212459" cy="24097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ACCA3C-4B8B-34A2-8012-4915AEC271F4}"/>
              </a:ext>
            </a:extLst>
          </p:cNvPr>
          <p:cNvSpPr/>
          <p:nvPr/>
        </p:nvSpPr>
        <p:spPr>
          <a:xfrm>
            <a:off x="329286" y="2777208"/>
            <a:ext cx="5074921" cy="332564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just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tka Text Semibold" pitchFamily="2" charset="0"/>
              </a:rPr>
              <a:t>Group 1</a:t>
            </a:r>
          </a:p>
          <a:p>
            <a:pPr algn="just"/>
            <a:endParaRPr lang="en-US" sz="2800" b="1" u="sng" dirty="0">
              <a:latin typeface="Algerian" panose="04020705040A02060702" pitchFamily="8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HITESH M. 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SHIVALINGESH P.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PRACHI SHINDE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BHAGYALAKSMI P.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SANDHYA              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Sitka Text" pitchFamily="2" charset="0"/>
              </a:rPr>
              <a:t>TARUN KUMAR </a:t>
            </a:r>
            <a:endParaRPr lang="en-IN" dirty="0">
              <a:latin typeface="Sitka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82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904</Words>
  <Application>Microsoft Office PowerPoint</Application>
  <PresentationFormat>Widescreen</PresentationFormat>
  <Paragraphs>139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Calibri</vt:lpstr>
      <vt:lpstr>Sitka Text</vt:lpstr>
      <vt:lpstr>Sitka Text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singh</cp:lastModifiedBy>
  <cp:revision>5</cp:revision>
  <dcterms:created xsi:type="dcterms:W3CDTF">2013-01-27T09:14:16Z</dcterms:created>
  <dcterms:modified xsi:type="dcterms:W3CDTF">2026-09-09T07:31:09Z</dcterms:modified>
  <cp:category/>
</cp:coreProperties>
</file>